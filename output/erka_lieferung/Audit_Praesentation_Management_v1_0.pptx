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Migrationsaudit Dinas → 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9D9D9"/>
                </a:solidFill>
              </a:rPr>
              <a:t>Abschlussbericht v2.0  —  ERKA-Management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9D9D9"/>
                </a:solidFill>
              </a:rPr>
              <a:t>Noerpel-Gruppe  |  Stand: 2026-04-29  |  Methodik v1.9.7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13 Scope-Einheiten  |  11 Kunden  |  17.891 beurteilbare Sendungen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8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Gesamtvolumen: 7,83 MEUR  |  Netto-Δ adj. +139.623 EUR (+1,78 %)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Befund: 0 Migrationsfehler  |  32/32 Aggregationstests bestanden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</a:rPr>
              <a:t>Migrationsaudit Dinas → AX  |  Abschlussbericht v2.0  |  Methodik v1.9.7  |  Vertraulich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Scope &amp; 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BFBF"/>
                </a:solidFill>
              </a:rPr>
              <a:t>ERKA-Management / Noerpel-Gruppe  |  2026-04-29  |  Vertraulich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486400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Geprüfte Kunden (13 Scopes)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GEZE GmbH (406035)          2.759 Send.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EBM-Papst (410844)            308 Send.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Fischerwerke (409480)         839 Send.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HERMA GmbH (423650)         3.642 Send.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CHT Germany (486073)          554 Send.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Bitzer SE (406345)           3.330 Send.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Groz-Beckert (490527+)        527 Send.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5993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HELU-KABEL (408244)          2.185 Send.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982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Hornschuch AG (490085)       1.565 Send.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365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Sika DE (491063)             1.379 Send.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Sika SSC (511241-ssc)           62 Send.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132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Sika Import (511241-imp)       346 Send.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51575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Sika ATM (527406)              395 Send.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188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Methodik v1.9.7 — Ablauf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9164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Daten-Pool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299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AX-Billing-Cache (bi_top20) bereinigt:
Sub-Rows, Null-Erlöse, Stornos ausgeschlossen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660904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7066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883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DLV-Kalkulation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992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Kundenspez. Tabellenwerk (Anlage 1):
Tonnage-/Gewichts-/Stellplatz-basiert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630168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6758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Vergleich &amp; M-Klassifikation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684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M1: fp ∈ [−1%,+1%]  M2: fp &lt; −1%
M_over: fp &gt; +1%  (fp = (ef−dlv)/dlv)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599432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645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268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P20-Anpassung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37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Erlöse Maut einbez. (Sika DE/Import)
RS Serbia-Sondervereinbarung isoliert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5568696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614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596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Aggregations-Audit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90702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32/32 Tests: Sub-Row-Ausschluss,
Cluster-Konsolidierung verifiziert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</a:rPr>
              <a:t>Migrationsaudit Dinas → AX  |  Abschlussbericht v2.0  |  Methodik v1.9.7  |  Vertraulich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Audit-Ergebnis: Quantitative Befunde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BFBF"/>
                </a:solidFill>
              </a:rPr>
              <a:t>ERKA-Management / Noerpel-Gruppe  |  2026-04-29  |  Vertraulich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17.891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D9D9"/>
                </a:solidFill>
              </a:rPr>
              <a:t>beurteilbare Sendungen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83,8 %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D9D9"/>
                </a:solidFill>
              </a:rPr>
              <a:t>M1-Pass-Rate (Treffer)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7432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+1,78 %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D9D9"/>
                </a:solidFill>
              </a:rPr>
              <a:t>Netto-Δ adj. (unkritisch)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97280"/>
            <a:ext cx="274320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143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D9D9"/>
                </a:solidFill>
              </a:rPr>
              <a:t>Migrationsfehler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651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M-Klassen-Verteilung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13258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081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Klasse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3063240"/>
            <a:ext cx="13258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081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Sendungen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063240"/>
            <a:ext cx="13258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081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063240"/>
            <a:ext cx="132588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081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Net-Δ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10712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4381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M1 (Treffer fp∈[−1%,+1%])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3410712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34381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14.998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410712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4381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83,8 %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410712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43814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5623"/>
                </a:solidFill>
              </a:rPr>
              <a:t>+53.226 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58184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785615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M2 (Unterabr. fp &lt; −1 %)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3758184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3785615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1.351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3758184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785615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7,6 %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758184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785615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</a:rPr>
              <a:t>−170.878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105656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13308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M_over (Überabr. fp &gt; +1 %)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4105656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413308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1.542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4105656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413308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8,6 %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105656"/>
            <a:ext cx="1325880" cy="338328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133087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5623"/>
                </a:solidFill>
              </a:rPr>
              <a:t>+208.415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453128"/>
            <a:ext cx="1325880" cy="338328"/>
          </a:xfrm>
          <a:prstGeom prst="rect">
            <a:avLst/>
          </a:prstGeom>
          <a:solidFill>
            <a:srgbClr val="D9D9D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GESAMT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0" y="4453128"/>
            <a:ext cx="1325880" cy="338328"/>
          </a:xfrm>
          <a:prstGeom prst="rect">
            <a:avLst/>
          </a:prstGeom>
          <a:solidFill>
            <a:srgbClr val="D9D9D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4592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17.891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453128"/>
            <a:ext cx="1325880" cy="338328"/>
          </a:xfrm>
          <a:prstGeom prst="rect">
            <a:avLst/>
          </a:prstGeom>
          <a:solidFill>
            <a:srgbClr val="D9D9D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1752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100 %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453128"/>
            <a:ext cx="1325880" cy="338328"/>
          </a:xfrm>
          <a:prstGeom prst="rect">
            <a:avLst/>
          </a:prstGeom>
          <a:solidFill>
            <a:srgbClr val="D9D9D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44805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62626"/>
                </a:solidFill>
              </a:rPr>
              <a:t>+90.762 EUR nom.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6517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Wesentliche Anpassungen (P20)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3063240"/>
            <a:ext cx="5760720" cy="91440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3108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Sika DE (KNR 491063)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34381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Erlöse Maut: + 30.555 EUR  →  adj. Δ: +4.797 EUR (−2,05% → −0,37%)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4069080"/>
            <a:ext cx="5760720" cy="91440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4114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Sika Import (KNR 511241-imp)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44398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Erlöse Maut: + 18.306 EUR  →  adj. Δ: +9.914 EUR (−1,33% → +1,57%)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5074920"/>
            <a:ext cx="5760720" cy="91440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72200" y="5120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Sika ATM (KNR 527406)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54498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RS Serbia pre-ex.: isoliert  →  Exkl. RS: −1.886 EUR (−0,95%)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</a:rPr>
              <a:t>Migrationsaudit Dinas → AX  |  Abschlussbericht v2.0  |  Methodik v1.9.7  |  Vertraulich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Operative Klärungen &amp; Empfehlungen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BFBF"/>
                </a:solidFill>
              </a:rPr>
              <a:t>ERKA-Management / Noerpel-Gruppe  |  2026-04-29  |  Vertraulich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Operative Klärungsbedarfe (kein Migrationsfehler)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57200" cy="594360"/>
          </a:xfrm>
          <a:prstGeom prst="rect">
            <a:avLst/>
          </a:prstGeom>
          <a:solidFill>
            <a:srgbClr val="FFE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7335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Hornschuch AG: PL-DLV-Lücke — 99 PL-Zonen ohne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459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203.992 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Mittel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20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457200" cy="594360"/>
          </a:xfrm>
          <a:prstGeom prst="rect">
            <a:avLst/>
          </a:prstGeom>
          <a:solidFill>
            <a:srgbClr val="FFE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3317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0428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Sika SSC: de_oos-Block — 347 DE-Sendungen unter SSC-KNR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3042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631.702 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3042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Mittel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5786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44368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44368"/>
            <a:ext cx="457200" cy="59436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990088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626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Fischerwerke: GR-Tarif-Lücke (LookupError für GR-PLZ)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9626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102.052 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96265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Niedrig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2369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02736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602736"/>
            <a:ext cx="457200" cy="59436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64845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2102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HERMA GmbH: GB-Zone-Lücke — 10 Postcode-Areas fehlen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6210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61.917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6210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Niedrig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8953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61104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261104"/>
            <a:ext cx="457200" cy="59436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306824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2793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Bitzer SE: DE-Inbound OOS (Import-Send. nicht im Export-DLV)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2793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33.970 EUR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279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Niedrig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5537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919472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4919472"/>
            <a:ext cx="457200" cy="59436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96519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93775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CHT Germany: GR-Calculator fehlt (nicht implementiert)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93775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38.776 EUR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493775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Niedrig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521207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577840"/>
            <a:ext cx="57607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5577840"/>
            <a:ext cx="457200" cy="59436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62356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62626"/>
                </a:solidFill>
              </a:rPr>
              <a:t>C.7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5961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Bitzer SE: FR-92000 Zonenzuordnung unklar (Zone 7 vs 8)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5961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∑ 445 EUR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55961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Niedrig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5870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62626"/>
                </a:solidFill>
              </a:rPr>
              <a:t>→ Klärung ERKA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12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</a:rPr>
              <a:t>Gesamt 7 Punkte: ∑ 1.072.854 EUR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Empfehlungen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1627632"/>
            <a:ext cx="5394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1627632"/>
            <a:ext cx="5029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1810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9168" y="16642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Freigabe Abschlussbericht v2.0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9168" y="199339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Befundlage: 0 Migrationsfehler, 83,8 % M1. Bericht kann
für ERKA-Management und Noerpel freigegeben werden.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2816352"/>
            <a:ext cx="5394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92240" y="2816352"/>
            <a:ext cx="5029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29992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9168" y="28529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Operative Klärungen beauftragen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9168" y="318211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7 Punkte (Σ 1,07 MEUR) sind vertragliche / operative
Fragestellungen außerhalb des Billing-Audits.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4005072"/>
            <a:ext cx="5394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92240" y="4005072"/>
            <a:ext cx="5029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41879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9168" y="40416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Methodikstandard v1.9.7 übernehmen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59168" y="437083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Aggregationsregel (AX-Sub-Row-Ausschluss, Dinas-Cluster)
als Standard für künftige AX-Audits dokumentieren.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5193792"/>
            <a:ext cx="53949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92240" y="5193792"/>
            <a:ext cx="50292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53766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9168" y="52303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Abschluss &amp; Archivierung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59168" y="5559552"/>
            <a:ext cx="4663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</a:rPr>
              <a:t>PKL-Caches + ERKA-Lieferpaket (XLSX, DOCX, PPTX)
archivierten und Projektabschluss bestätigen.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</a:rPr>
              <a:t>Migrationsaudit Dinas → AX  |  Abschlussbericht v2.0  |  Methodik v1.9.7  |  Vertraulich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